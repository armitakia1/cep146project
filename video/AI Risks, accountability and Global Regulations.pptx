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3" r:id="rId4"/>
    <p:sldId id="258" r:id="rId5"/>
    <p:sldId id="270" r:id="rId6"/>
    <p:sldId id="271" r:id="rId7"/>
    <p:sldId id="259" r:id="rId8"/>
    <p:sldId id="268" r:id="rId9"/>
    <p:sldId id="273" r:id="rId10"/>
    <p:sldId id="274" r:id="rId11"/>
    <p:sldId id="275" r:id="rId12"/>
    <p:sldId id="266" r:id="rId13"/>
    <p:sldId id="272" r:id="rId14"/>
    <p:sldId id="267" r:id="rId15"/>
    <p:sldId id="276" r:id="rId16"/>
    <p:sldId id="277" r:id="rId17"/>
    <p:sldId id="278" r:id="rId18"/>
    <p:sldId id="264" r:id="rId19"/>
    <p:sldId id="26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2"/>
    <p:restoredTop sz="94658"/>
  </p:normalViewPr>
  <p:slideViewPr>
    <p:cSldViewPr snapToGrid="0">
      <p:cViewPr varScale="1">
        <p:scale>
          <a:sx n="68" d="100"/>
          <a:sy n="68" d="100"/>
        </p:scale>
        <p:origin x="216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0DDAD-3828-6396-5D9E-D2D19568FC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CA" sz="8000" b="1"/>
              <a:t>Artificial Intelligence</a:t>
            </a:r>
            <a:endParaRPr lang="en-US" sz="80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B15CE-D506-A01A-B0EF-03BA25EA1A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CA" sz="3200" b="1"/>
              <a:t>Risks, Accountability, and Global Regulation</a:t>
            </a:r>
            <a:endParaRPr lang="en-US" sz="3200"/>
          </a:p>
        </p:txBody>
      </p:sp>
      <p:pic>
        <p:nvPicPr>
          <p:cNvPr id="4" name="Audio Recording Oct 21, 2026 at 4:53:48 AM">
            <a:hlinkClick r:id="" action="ppaction://media"/>
            <a:extLst>
              <a:ext uri="{FF2B5EF4-FFF2-40B4-BE49-F238E27FC236}">
                <a16:creationId xmlns:a16="http://schemas.microsoft.com/office/drawing/2014/main" id="{D545A7AC-54C6-7146-27E5-0E190E4763B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89600" y="3022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4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6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A9094-7E06-5F28-3D28-AD3F0FADC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Group members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69D13-2AF7-23B2-22E2-B0BA0CFBB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/>
              <a:t>Sepanta Jazdarrehe / ID # 112488267 /  sjazdareh</a:t>
            </a:r>
          </a:p>
          <a:p>
            <a:pPr lvl="0"/>
            <a:r>
              <a:rPr lang="en-CA"/>
              <a:t>Armita Kiashemshaki / ID # 039751144 / akiashemshaki</a:t>
            </a:r>
          </a:p>
          <a:p>
            <a:pPr lvl="0"/>
            <a:r>
              <a:rPr lang="en-CA"/>
              <a:t>Merveille Solène Socko Damba / ID # 116470261 / mssocko-damba</a:t>
            </a:r>
          </a:p>
          <a:p>
            <a:pPr lvl="0"/>
            <a:r>
              <a:rPr lang="en-CA"/>
              <a:t>Natalia Rodriguez Bogota / ID # 113986269 / Rodriguez-bogota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925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CF313-B230-7B58-08CD-2A120CB34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3200" b="1"/>
              <a:t>Introduction</a:t>
            </a:r>
            <a:br>
              <a:rPr lang="en-CA" sz="3200"/>
            </a:b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57E38-B330-A586-14A3-9B3804F39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3200"/>
              <a:t>AI Autonomy </a:t>
            </a:r>
          </a:p>
          <a:p>
            <a:r>
              <a:rPr lang="en-CA" sz="3200"/>
              <a:t>Cybersecurity </a:t>
            </a:r>
          </a:p>
          <a:p>
            <a:r>
              <a:rPr lang="en-CA" sz="3200"/>
              <a:t>Legal Responsibility </a:t>
            </a:r>
          </a:p>
          <a:p>
            <a:r>
              <a:rPr lang="en-CA" sz="3200"/>
              <a:t>Government Regulation</a:t>
            </a:r>
          </a:p>
          <a:p>
            <a:endParaRPr lang="en-US"/>
          </a:p>
        </p:txBody>
      </p:sp>
      <p:pic>
        <p:nvPicPr>
          <p:cNvPr id="4" name="Audio Recording Oct 21, 2026 at 5:22:00 AM">
            <a:hlinkClick r:id="" action="ppaction://media"/>
            <a:extLst>
              <a:ext uri="{FF2B5EF4-FFF2-40B4-BE49-F238E27FC236}">
                <a16:creationId xmlns:a16="http://schemas.microsoft.com/office/drawing/2014/main" id="{ED560B19-E8AE-72BB-D5AA-10C0B21C028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89600" y="3022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3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4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D1876-A9F7-D11D-D7BC-A9EF26919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888" y="2409581"/>
            <a:ext cx="5490224" cy="1689390"/>
          </a:xfrm>
        </p:spPr>
        <p:txBody>
          <a:bodyPr>
            <a:normAutofit/>
          </a:bodyPr>
          <a:lstStyle/>
          <a:p>
            <a:r>
              <a:rPr lang="en-CA" b="1"/>
              <a:t>AI Autonomy Risks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6958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75C0-47CC-0DB9-C9D3-3FF6EE2B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D2CB-A9FD-9AB1-AC4D-1EDA992F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5 Risks of AI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D941FD-E48F-3DE8-906B-CA8DE3123A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20387" y="1732147"/>
            <a:ext cx="6264350" cy="1696853"/>
          </a:xfrm>
        </p:spPr>
        <p:txBody>
          <a:bodyPr>
            <a:normAutofit fontScale="250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7200" b="1"/>
              <a:t>Unintended Behavior</a:t>
            </a:r>
            <a:r>
              <a:rPr lang="en-CA" sz="7200"/>
              <a:t> — AI may act beyond its intended goals.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7200" b="1"/>
              <a:t>Deceptive Behavior</a:t>
            </a:r>
            <a:r>
              <a:rPr lang="en-CA" sz="7200"/>
              <a:t> — AI may learn to cheat or provide misleading information.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7200" b="1"/>
              <a:t>Incorrect Identification</a:t>
            </a:r>
            <a:r>
              <a:rPr lang="en-CA" sz="7200"/>
              <a:t> — AI may make mistakes when identifying people or situations.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7200" b="1"/>
              <a:t>Bias and Discrimination</a:t>
            </a:r>
            <a:r>
              <a:rPr lang="en-CA" sz="7200"/>
              <a:t> — AI may reinforce biases in its training data.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7200" b="1"/>
              <a:t>Security Vulnerabilities</a:t>
            </a:r>
            <a:r>
              <a:rPr lang="en-CA" sz="7200"/>
              <a:t> — Autonomous AI may create risks when accessing sensitive systems.</a:t>
            </a:r>
          </a:p>
          <a:p>
            <a:pPr marL="342900" indent="-342900">
              <a:buFont typeface="+mj-lt"/>
              <a:buAutoNum type="arabicPeriod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14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53823-CB98-8271-F585-18324734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AI Scientists Risk</a:t>
            </a:r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D9EA4B4-5052-97F5-9923-21950FF82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4357" y="530353"/>
            <a:ext cx="5058180" cy="598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36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480E2-A26C-224E-65D6-EF28D679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Who Is Responsible for AI Mistakes?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2CFCB-493E-85FC-4318-A50D9BAB74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4495" y="1603287"/>
            <a:ext cx="2567809" cy="1673313"/>
          </a:xfrm>
        </p:spPr>
        <p:txBody>
          <a:bodyPr/>
          <a:lstStyle/>
          <a:p>
            <a:pPr marL="0" indent="0">
              <a:buNone/>
            </a:pPr>
            <a:r>
              <a:rPr lang="en-CA" b="1"/>
              <a:t>Companies</a:t>
            </a:r>
            <a:endParaRPr lang="en-CA"/>
          </a:p>
          <a:p>
            <a:r>
              <a:rPr lang="en-CA"/>
              <a:t>Responsible for AI tools they provide or use.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2D6834-C8C2-14D6-4A10-E8F5CAB73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2567809" cy="2110452"/>
          </a:xfrm>
        </p:spPr>
        <p:txBody>
          <a:bodyPr/>
          <a:lstStyle/>
          <a:p>
            <a:pPr marL="0" indent="0">
              <a:buNone/>
            </a:pPr>
            <a:r>
              <a:rPr lang="en-CA" b="1"/>
              <a:t>Human Operators</a:t>
            </a:r>
            <a:endParaRPr lang="en-CA"/>
          </a:p>
          <a:p>
            <a:r>
              <a:rPr lang="en-CA"/>
              <a:t>May be responsible for failing to supervise AI.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6869F15-0761-5ADC-D64B-D5E6B4C20CA3}"/>
              </a:ext>
            </a:extLst>
          </p:cNvPr>
          <p:cNvSpPr txBox="1">
            <a:spLocks/>
          </p:cNvSpPr>
          <p:nvPr/>
        </p:nvSpPr>
        <p:spPr>
          <a:xfrm>
            <a:off x="8386970" y="3581400"/>
            <a:ext cx="2567809" cy="2110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b="1"/>
              <a:t>AI Itself</a:t>
            </a:r>
            <a:endParaRPr lang="en-CA"/>
          </a:p>
          <a:p>
            <a:r>
              <a:rPr lang="en-CA"/>
              <a:t>Not currently treated as a legal person.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14C17A7-9CE3-298A-C407-EE9ADDFDEB5B}"/>
              </a:ext>
            </a:extLst>
          </p:cNvPr>
          <p:cNvSpPr txBox="1">
            <a:spLocks/>
          </p:cNvSpPr>
          <p:nvPr/>
        </p:nvSpPr>
        <p:spPr>
          <a:xfrm>
            <a:off x="8386970" y="1603287"/>
            <a:ext cx="2567809" cy="23826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b="1"/>
              <a:t>Developers</a:t>
            </a:r>
            <a:endParaRPr lang="en-CA"/>
          </a:p>
          <a:p>
            <a:r>
              <a:rPr lang="en-CA"/>
              <a:t>May be liable for defective AI systems.</a:t>
            </a:r>
          </a:p>
        </p:txBody>
      </p:sp>
    </p:spTree>
    <p:extLst>
      <p:ext uri="{BB962C8B-B14F-4D97-AF65-F5344CB8AC3E}">
        <p14:creationId xmlns:p14="http://schemas.microsoft.com/office/powerpoint/2010/main" val="39423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829AF-12B5-641F-3236-861F1CAB7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2A814-FCDC-FD9A-B269-0BA6E4D16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888" y="2409581"/>
            <a:ext cx="5490224" cy="1689390"/>
          </a:xfrm>
        </p:spPr>
        <p:txBody>
          <a:bodyPr>
            <a:normAutofit/>
          </a:bodyPr>
          <a:lstStyle/>
          <a:p>
            <a:r>
              <a:rPr lang="en-CA" b="1"/>
              <a:t>Legal Responsibility and Accountability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6873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1B0EB-3521-133E-61D9-D65EF54BE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70F9E-57C1-9A19-D648-7E2E5F072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Real Word Cases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168035-E976-C8BC-D309-E832DED84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804" y="1334965"/>
            <a:ext cx="6383195" cy="418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522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4E505-1D68-6DD5-1FBD-83B8E652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7D7A8-AEB9-C0ED-E3A9-F377CD4C3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Real Word Cases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594E95-493E-F5C9-3707-5DCFEA1BF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150" y="814388"/>
            <a:ext cx="6572250" cy="451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3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61E6-5A94-B3DB-77B4-961F381E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C87F8-22BB-CDD8-8779-117E32DC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Real Word Cases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67CA34-3936-777B-DD22-44A730E84F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45"/>
          <a:stretch>
            <a:fillRect/>
          </a:stretch>
        </p:blipFill>
        <p:spPr>
          <a:xfrm>
            <a:off x="4666662" y="746194"/>
            <a:ext cx="7307632" cy="470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685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D1876-A9F7-D11D-D7BC-A9EF26919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888" y="2409581"/>
            <a:ext cx="5490224" cy="1689390"/>
          </a:xfrm>
        </p:spPr>
        <p:txBody>
          <a:bodyPr>
            <a:normAutofit/>
          </a:bodyPr>
          <a:lstStyle/>
          <a:p>
            <a:r>
              <a:rPr lang="en-CA" b="1"/>
              <a:t>Evolution of U.S. AI Regulation</a:t>
            </a:r>
            <a:endParaRPr lang="en-US"/>
          </a:p>
        </p:txBody>
      </p:sp>
      <p:pic>
        <p:nvPicPr>
          <p:cNvPr id="4" name="Audio Recording Oct 21, 2026 at 4:54:21 AM">
            <a:hlinkClick r:id="" action="ppaction://media"/>
            <a:extLst>
              <a:ext uri="{FF2B5EF4-FFF2-40B4-BE49-F238E27FC236}">
                <a16:creationId xmlns:a16="http://schemas.microsoft.com/office/drawing/2014/main" id="{5C9C8320-EF5B-8A64-5266-821A7971BB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89600" y="3022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330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8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480E2-A26C-224E-65D6-EF28D679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Evolution of U.S. AI Regulation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2CFCB-493E-85FC-4318-A50D9BAB74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2567809" cy="2382651"/>
          </a:xfrm>
        </p:spPr>
        <p:txBody>
          <a:bodyPr/>
          <a:lstStyle/>
          <a:p>
            <a:pPr marL="0" indent="0">
              <a:buNone/>
            </a:pPr>
            <a:r>
              <a:rPr lang="en-CA" b="1"/>
              <a:t>Obama (2016)</a:t>
            </a:r>
            <a:endParaRPr lang="en-CA"/>
          </a:p>
          <a:p>
            <a:r>
              <a:rPr lang="en-CA"/>
              <a:t>Early federal research and preparation for AI opportunities and risks.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2D6834-C8C2-14D6-4A10-E8F5CAB73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2567809" cy="2110452"/>
          </a:xfrm>
        </p:spPr>
        <p:txBody>
          <a:bodyPr/>
          <a:lstStyle/>
          <a:p>
            <a:pPr marL="0" indent="0">
              <a:buNone/>
            </a:pPr>
            <a:r>
              <a:rPr lang="en-CA" b="1"/>
              <a:t>Biden (2021–2025)</a:t>
            </a:r>
            <a:endParaRPr lang="en-CA"/>
          </a:p>
          <a:p>
            <a:r>
              <a:rPr lang="en-CA"/>
              <a:t>Greater emphasis on AI safety, civil rights, and accountability.</a:t>
            </a:r>
          </a:p>
          <a:p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6869F15-0761-5ADC-D64B-D5E6B4C20CA3}"/>
              </a:ext>
            </a:extLst>
          </p:cNvPr>
          <p:cNvSpPr txBox="1">
            <a:spLocks/>
          </p:cNvSpPr>
          <p:nvPr/>
        </p:nvSpPr>
        <p:spPr>
          <a:xfrm>
            <a:off x="8386970" y="3581400"/>
            <a:ext cx="2567809" cy="211045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b="1"/>
              <a:t>Trump (2025–present)</a:t>
            </a:r>
            <a:endParaRPr lang="en-CA"/>
          </a:p>
          <a:p>
            <a:r>
              <a:rPr lang="en-CA"/>
              <a:t>Reducing regulatory barriers to accelerate AI development.</a:t>
            </a:r>
          </a:p>
          <a:p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14C17A7-9CE3-298A-C407-EE9ADDFDEB5B}"/>
              </a:ext>
            </a:extLst>
          </p:cNvPr>
          <p:cNvSpPr txBox="1">
            <a:spLocks/>
          </p:cNvSpPr>
          <p:nvPr/>
        </p:nvSpPr>
        <p:spPr>
          <a:xfrm>
            <a:off x="8386969" y="803186"/>
            <a:ext cx="2567809" cy="23826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b="1"/>
              <a:t>Trump (2017–2021)</a:t>
            </a:r>
            <a:endParaRPr lang="en-CA"/>
          </a:p>
          <a:p>
            <a:r>
              <a:rPr lang="en-CA"/>
              <a:t>American AI Initiative focused on innovation and U.S. leadership.</a:t>
            </a:r>
          </a:p>
        </p:txBody>
      </p:sp>
      <p:pic>
        <p:nvPicPr>
          <p:cNvPr id="10" name="Audio Recording Oct 21, 2026 at 4:56:29 AM">
            <a:hlinkClick r:id="" action="ppaction://media"/>
            <a:extLst>
              <a:ext uri="{FF2B5EF4-FFF2-40B4-BE49-F238E27FC236}">
                <a16:creationId xmlns:a16="http://schemas.microsoft.com/office/drawing/2014/main" id="{D38DCDEA-48B3-2627-ABF5-18F5A6DF0BD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89600" y="3022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156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14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53823-CB98-8271-F585-18324734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The AI Regulation Debate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FBB31-67A5-B3A5-012E-462B38A1B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b="1"/>
              <a:t>Fewer Restrictions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8A00CA-5374-C00C-8FA2-F521FF93D2D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Encourages innovation.</a:t>
            </a:r>
          </a:p>
          <a:p>
            <a:r>
              <a:rPr lang="en-US"/>
              <a:t>Supports economic growth.</a:t>
            </a:r>
          </a:p>
          <a:p>
            <a:r>
              <a:rPr lang="en-US"/>
              <a:t>Promotes competitiveness.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744589-DE8D-01BD-78AA-F3DA184B3A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b="1"/>
              <a:t>Stronger Safeguards</a:t>
            </a:r>
            <a:endParaRPr lang="en-CA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E9770E-7ACA-D02E-5474-62A7FD24911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/>
              <a:t>Protects privacy.</a:t>
            </a:r>
          </a:p>
          <a:p>
            <a:r>
              <a:rPr lang="en-US"/>
              <a:t>Improves accountability.</a:t>
            </a:r>
          </a:p>
          <a:p>
            <a:r>
              <a:rPr lang="en-US"/>
              <a:t>Addresses safety risks.</a:t>
            </a:r>
          </a:p>
        </p:txBody>
      </p:sp>
      <p:pic>
        <p:nvPicPr>
          <p:cNvPr id="7" name="Audio Recording Oct 21, 2026 at 4:57:51 AM">
            <a:hlinkClick r:id="" action="ppaction://media"/>
            <a:extLst>
              <a:ext uri="{FF2B5EF4-FFF2-40B4-BE49-F238E27FC236}">
                <a16:creationId xmlns:a16="http://schemas.microsoft.com/office/drawing/2014/main" id="{EDC660FE-5FDF-17B0-CB22-82C1639E33E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89600" y="3022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51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22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B274E-6853-B1F0-AA03-C29BE4F14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1CE42-F2EF-4C9D-E760-ABAE782BC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888" y="2409581"/>
            <a:ext cx="5490224" cy="1689390"/>
          </a:xfrm>
        </p:spPr>
        <p:txBody>
          <a:bodyPr>
            <a:normAutofit/>
          </a:bodyPr>
          <a:lstStyle/>
          <a:p>
            <a:r>
              <a:rPr lang="en-CA" b="1"/>
              <a:t>AI Regulations in Other Countries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7311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53823-CB98-8271-F585-18324734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The AI Regulation Debate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FBB31-67A5-B3A5-012E-462B38A1B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5137" y="1607437"/>
            <a:ext cx="6265088" cy="685800"/>
          </a:xfrm>
        </p:spPr>
        <p:txBody>
          <a:bodyPr/>
          <a:lstStyle/>
          <a:p>
            <a:r>
              <a:rPr lang="en-CA" b="1"/>
              <a:t>EUROPEAN Union 🇪🇺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8A00CA-5374-C00C-8FA2-F521FF93D2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5305" y="2293238"/>
            <a:ext cx="6264350" cy="685800"/>
          </a:xfrm>
        </p:spPr>
        <p:txBody>
          <a:bodyPr/>
          <a:lstStyle/>
          <a:p>
            <a:r>
              <a:rPr lang="en-CA"/>
              <a:t>Risk-based rules and AI safety.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744589-DE8D-01BD-78AA-F3DA184B3A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8653" y="2836640"/>
            <a:ext cx="6264414" cy="685800"/>
          </a:xfrm>
        </p:spPr>
        <p:txBody>
          <a:bodyPr/>
          <a:lstStyle/>
          <a:p>
            <a:r>
              <a:rPr lang="en-CA" b="1"/>
              <a:t>United states 🇺🇸</a:t>
            </a:r>
            <a:endParaRPr lang="en-CA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E9770E-7ACA-D02E-5474-62A7FD249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8447" y="3522440"/>
            <a:ext cx="6265588" cy="685800"/>
          </a:xfrm>
        </p:spPr>
        <p:txBody>
          <a:bodyPr/>
          <a:lstStyle/>
          <a:p>
            <a:r>
              <a:rPr lang="en-CA"/>
              <a:t>Innovation and competitiveness.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E1A49808-B143-1705-B441-03140BB995C0}"/>
              </a:ext>
            </a:extLst>
          </p:cNvPr>
          <p:cNvSpPr txBox="1">
            <a:spLocks/>
          </p:cNvSpPr>
          <p:nvPr/>
        </p:nvSpPr>
        <p:spPr>
          <a:xfrm>
            <a:off x="5118653" y="4138612"/>
            <a:ext cx="6264414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200" b="0" kern="1200" cap="all" baseline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 b="1"/>
              <a:t>China 🇨🇳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BB065A42-0575-74AD-517C-5FBE568A2386}"/>
              </a:ext>
            </a:extLst>
          </p:cNvPr>
          <p:cNvSpPr txBox="1">
            <a:spLocks/>
          </p:cNvSpPr>
          <p:nvPr/>
        </p:nvSpPr>
        <p:spPr>
          <a:xfrm>
            <a:off x="5118447" y="4824412"/>
            <a:ext cx="6265588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/>
              <a:t>Government oversight and security.</a:t>
            </a:r>
          </a:p>
        </p:txBody>
      </p:sp>
    </p:spTree>
    <p:extLst>
      <p:ext uri="{BB962C8B-B14F-4D97-AF65-F5344CB8AC3E}">
        <p14:creationId xmlns:p14="http://schemas.microsoft.com/office/powerpoint/2010/main" val="3032918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B8634-0847-A77D-DE45-B5B0D29AD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8E774-E23F-A584-EB5E-2C9AD6642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/>
              <a:t>Other Global Approches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0F067E-3206-AAFE-1AB3-A210FB156C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5137" y="1607437"/>
            <a:ext cx="6265088" cy="685800"/>
          </a:xfrm>
        </p:spPr>
        <p:txBody>
          <a:bodyPr/>
          <a:lstStyle/>
          <a:p>
            <a:r>
              <a:rPr lang="en-CA" b="1"/>
              <a:t>United Kingdom &amp; Japan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96C166-7A96-7EFE-ADA3-85D0F5037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5305" y="2293238"/>
            <a:ext cx="6264350" cy="685800"/>
          </a:xfrm>
        </p:spPr>
        <p:txBody>
          <a:bodyPr>
            <a:normAutofit/>
          </a:bodyPr>
          <a:lstStyle/>
          <a:p>
            <a:r>
              <a:rPr lang="en-CA"/>
              <a:t>Flexible, innovation-friendly guidelines.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A0A4AF-03A8-0BF9-82C2-99862D55F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8653" y="2836640"/>
            <a:ext cx="6264414" cy="685800"/>
          </a:xfrm>
        </p:spPr>
        <p:txBody>
          <a:bodyPr/>
          <a:lstStyle/>
          <a:p>
            <a:r>
              <a:rPr lang="en-CA" b="1"/>
              <a:t>Canada, India &amp; Brazil</a:t>
            </a:r>
            <a:endParaRPr lang="en-CA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2C26D4-721A-2FD7-A75D-1E9A999FD9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8447" y="3522440"/>
            <a:ext cx="6265588" cy="685800"/>
          </a:xfrm>
        </p:spPr>
        <p:txBody>
          <a:bodyPr>
            <a:normAutofit/>
          </a:bodyPr>
          <a:lstStyle/>
          <a:p>
            <a:r>
              <a:rPr lang="en-CA"/>
              <a:t>Developing different approaches to AI governance.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4AAB80-8979-4B7D-7DA0-46313112627E}"/>
              </a:ext>
            </a:extLst>
          </p:cNvPr>
          <p:cNvSpPr txBox="1">
            <a:spLocks/>
          </p:cNvSpPr>
          <p:nvPr/>
        </p:nvSpPr>
        <p:spPr>
          <a:xfrm>
            <a:off x="5118653" y="4138612"/>
            <a:ext cx="6264414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200" b="0" kern="1200" cap="all" baseline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16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 b="1"/>
              <a:t>Global Challenge</a:t>
            </a:r>
            <a:endParaRPr lang="en-CA"/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D496A3E2-CB21-DA51-F5C7-3C5F6B147582}"/>
              </a:ext>
            </a:extLst>
          </p:cNvPr>
          <p:cNvSpPr txBox="1">
            <a:spLocks/>
          </p:cNvSpPr>
          <p:nvPr/>
        </p:nvSpPr>
        <p:spPr>
          <a:xfrm>
            <a:off x="5118447" y="4824412"/>
            <a:ext cx="6265588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/>
              <a:t>fferent countries, different AI rules.</a:t>
            </a:r>
          </a:p>
        </p:txBody>
      </p:sp>
    </p:spTree>
    <p:extLst>
      <p:ext uri="{BB962C8B-B14F-4D97-AF65-F5344CB8AC3E}">
        <p14:creationId xmlns:p14="http://schemas.microsoft.com/office/powerpoint/2010/main" val="5484892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FFAD3-DE39-2758-0C67-B1A4A7C74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5C1AB0C-562E-036F-EF24-97C979196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Autonomous decision-making and cybersecurity risks</a:t>
            </a:r>
            <a:br>
              <a:rPr lang="en-CA"/>
            </a:br>
            <a:endParaRPr lang="en-CA"/>
          </a:p>
          <a:p>
            <a:r>
              <a:rPr lang="en-CA"/>
              <a:t> Legal responsibility and accountability</a:t>
            </a:r>
            <a:br>
              <a:rPr lang="en-CA"/>
            </a:br>
            <a:endParaRPr lang="en-CA"/>
          </a:p>
          <a:p>
            <a:r>
              <a:rPr lang="en-CA"/>
              <a:t>Different regulatory approaches worldwide</a:t>
            </a:r>
            <a:br>
              <a:rPr lang="en-CA"/>
            </a:br>
            <a:endParaRPr lang="en-CA"/>
          </a:p>
          <a:p>
            <a:r>
              <a:rPr lang="en-CA"/>
              <a:t>Balancing innovation with public safety</a:t>
            </a:r>
          </a:p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24B8DC3-7932-D753-1354-5E0909DFF810}"/>
              </a:ext>
            </a:extLst>
          </p:cNvPr>
          <p:cNvSpPr txBox="1">
            <a:spLocks/>
          </p:cNvSpPr>
          <p:nvPr/>
        </p:nvSpPr>
        <p:spPr>
          <a:xfrm>
            <a:off x="885443" y="3905250"/>
            <a:ext cx="3498979" cy="9139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CA">
                <a:solidFill>
                  <a:schemeClr val="bg1"/>
                </a:solidFill>
              </a:rPr>
              <a:t>Key Challenges in AI Governance</a:t>
            </a:r>
          </a:p>
        </p:txBody>
      </p:sp>
      <p:pic>
        <p:nvPicPr>
          <p:cNvPr id="11" name="Audio Recording Oct 21, 2026 at 5:25:35 AM">
            <a:hlinkClick r:id="" action="ppaction://media"/>
            <a:extLst>
              <a:ext uri="{FF2B5EF4-FFF2-40B4-BE49-F238E27FC236}">
                <a16:creationId xmlns:a16="http://schemas.microsoft.com/office/drawing/2014/main" id="{57F1D11B-3546-8B40-3195-6145599EF39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89600" y="30226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41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4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07916A-24D0-30B1-DE26-0B39A2B7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D54FC6-21B9-E3CC-ECB1-80B7830D58AF}"/>
              </a:ext>
            </a:extLst>
          </p:cNvPr>
          <p:cNvSpPr txBox="1">
            <a:spLocks/>
          </p:cNvSpPr>
          <p:nvPr/>
        </p:nvSpPr>
        <p:spPr>
          <a:xfrm>
            <a:off x="7029450" y="803186"/>
            <a:ext cx="4370870" cy="5248622"/>
          </a:xfrm>
          <a:prstGeom prst="rect">
            <a:avLst/>
          </a:prstGeo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3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None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/>
              <a:t>• Autonomous decision-making and cybersecurity risks</a:t>
            </a:r>
          </a:p>
          <a:p>
            <a:br>
              <a:rPr lang="en-CA"/>
            </a:br>
            <a:endParaRPr lang="en-CA"/>
          </a:p>
          <a:p>
            <a:r>
              <a:rPr lang="en-CA"/>
              <a:t>• Legal responsibility and accountability</a:t>
            </a:r>
          </a:p>
          <a:p>
            <a:br>
              <a:rPr lang="en-CA"/>
            </a:br>
            <a:endParaRPr lang="en-CA"/>
          </a:p>
          <a:p>
            <a:r>
              <a:rPr lang="en-CA"/>
              <a:t>• Different regulatory approaches worldwide</a:t>
            </a:r>
          </a:p>
          <a:p>
            <a:br>
              <a:rPr lang="en-CA"/>
            </a:br>
            <a:endParaRPr lang="en-CA"/>
          </a:p>
          <a:p>
            <a:r>
              <a:rPr lang="en-CA"/>
              <a:t>• Balancing innovation with public safety</a:t>
            </a:r>
          </a:p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92893EE-71D8-997E-4CC5-A030AA5C629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7559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Atlas</Template>
  <TotalTime>635</TotalTime>
  <Words>413</Words>
  <Application>Microsoft Macintosh PowerPoint</Application>
  <PresentationFormat>Widescreen</PresentationFormat>
  <Paragraphs>81</Paragraphs>
  <Slides>19</Slides>
  <Notes>0</Notes>
  <HiddenSlides>0</HiddenSlides>
  <MMClips>6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Calibri Light</vt:lpstr>
      <vt:lpstr>Rockwell</vt:lpstr>
      <vt:lpstr>Wingdings</vt:lpstr>
      <vt:lpstr>Atlas</vt:lpstr>
      <vt:lpstr>Artificial Intelligence</vt:lpstr>
      <vt:lpstr>Group members</vt:lpstr>
      <vt:lpstr>Introduction </vt:lpstr>
      <vt:lpstr>AI Autonomy Risks</vt:lpstr>
      <vt:lpstr>5 Risks of AI</vt:lpstr>
      <vt:lpstr>AI Scientists Risk</vt:lpstr>
      <vt:lpstr>Who Is Responsible for AI Mistakes?</vt:lpstr>
      <vt:lpstr>Legal Responsibility and Accountability</vt:lpstr>
      <vt:lpstr>Real Word Cases</vt:lpstr>
      <vt:lpstr>Real Word Cases</vt:lpstr>
      <vt:lpstr>Real Word Cases</vt:lpstr>
      <vt:lpstr>Evolution of U.S. AI Regulation</vt:lpstr>
      <vt:lpstr>Evolution of U.S. AI Regulation</vt:lpstr>
      <vt:lpstr>The AI Regulation Debate</vt:lpstr>
      <vt:lpstr>AI Regulations in Other Countries</vt:lpstr>
      <vt:lpstr>The AI Regulation Debate</vt:lpstr>
      <vt:lpstr>Other Global Approches</vt:lpstr>
      <vt:lpstr>Conclusion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Natalia Rodriguez Bogota</dc:creator>
  <cp:lastModifiedBy>Natalia Rodriguez Bogota</cp:lastModifiedBy>
  <cp:revision>4</cp:revision>
  <dcterms:created xsi:type="dcterms:W3CDTF">2026-10-21T08:06:45Z</dcterms:created>
  <dcterms:modified xsi:type="dcterms:W3CDTF">2026-10-21T18:42:40Z</dcterms:modified>
</cp:coreProperties>
</file>